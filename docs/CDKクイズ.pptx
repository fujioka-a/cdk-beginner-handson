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2"/>
    <p:restoredTop sz="94681"/>
  </p:normalViewPr>
  <p:slideViewPr>
    <p:cSldViewPr snapToGrid="0" showGuides="1">
      <p:cViewPr varScale="1">
        <p:scale>
          <a:sx n="111" d="100"/>
          <a:sy n="111" d="100"/>
        </p:scale>
        <p:origin x="464" y="2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B08EC5-EF33-EF31-1603-65E078D42E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761A70F-9104-565C-73A6-4CFA630E3E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22DEC4B-A529-0D6A-4AC1-EA9D28033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6ED69-11D5-1644-8D81-278712D285D5}" type="datetimeFigureOut">
              <a:rPr kumimoji="1" lang="ja-JP" altLang="en-US" smtClean="0"/>
              <a:t>2026/5/23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D8FEC6B-7B59-DACE-AA51-A2066FEE2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EBC68EB-C171-F635-EEE5-50CDF23D8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2BCA9-C9C3-2944-8CA9-9CCFF15185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7642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018B5F-904F-7CB4-972C-B8885F333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05D60A8-B0F2-5608-5926-54C2FB06E3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0F0C863-D7C2-F5B9-F2A2-07473966B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6ED69-11D5-1644-8D81-278712D285D5}" type="datetimeFigureOut">
              <a:rPr kumimoji="1" lang="ja-JP" altLang="en-US" smtClean="0"/>
              <a:t>2026/5/23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C9D4936-6E74-260B-A27C-7210BAD2D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92E9E88-9EBE-EA30-357B-24A5C5065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2BCA9-C9C3-2944-8CA9-9CCFF15185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01182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F01187-B079-46F3-F6D6-D25535CC0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5F3AF0E-2982-C156-5CE0-9672318C2E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41E3DF6-D438-D05D-BF98-196F76DD7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6ED69-11D5-1644-8D81-278712D285D5}" type="datetimeFigureOut">
              <a:rPr kumimoji="1" lang="ja-JP" altLang="en-US" smtClean="0"/>
              <a:t>2026/5/23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6E5EA0A-1249-DB82-6496-903DFDA57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619291C-EF32-009A-A45B-292255978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2BCA9-C9C3-2944-8CA9-9CCFF15185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6475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63A52A-48CA-7DD3-D21C-085D516A0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1698A3F-6482-17FA-0193-B2D20159A2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EB536E5-0874-BEAC-3928-DDEE85F2CD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E912D41-54A0-3A49-F9FD-52C1E9101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6ED69-11D5-1644-8D81-278712D285D5}" type="datetimeFigureOut">
              <a:rPr kumimoji="1" lang="ja-JP" altLang="en-US" smtClean="0"/>
              <a:t>2026/5/23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C040C61-C624-CB99-3CAD-7A8DB9A20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93F61CD-80F5-1F21-2FD8-266D31C76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2BCA9-C9C3-2944-8CA9-9CCFF15185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550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DACD8F-04A3-5104-1E04-4B26C7736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29A603C-8F16-54D9-32C6-FEEE3A0AF5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F3389B1-D3C7-546F-A5F8-6AA79069A6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0B17479-A126-B27C-9F85-C37D595D64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8648A08-A16D-4D30-8C1F-73F02F158B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E611D4B-9331-1ED8-C708-7D2F3A612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6ED69-11D5-1644-8D81-278712D285D5}" type="datetimeFigureOut">
              <a:rPr kumimoji="1" lang="ja-JP" altLang="en-US" smtClean="0"/>
              <a:t>2026/5/23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1C1BB07-B961-76D8-9DCE-B37739293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5794906-817C-F21B-A9A8-52919DD31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2BCA9-C9C3-2944-8CA9-9CCFF15185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9182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4BAE5BB-195B-762D-98B9-DD2A9DFFC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AD9CA54-0DE8-73EF-FE13-F0C607A2C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6ED69-11D5-1644-8D81-278712D285D5}" type="datetimeFigureOut">
              <a:rPr kumimoji="1" lang="ja-JP" altLang="en-US" smtClean="0"/>
              <a:t>2026/5/23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072D019-6487-A145-6D30-3923D62AB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8890E32-9FCB-F6BE-D29D-6C58DEB12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2BCA9-C9C3-2944-8CA9-9CCFF15185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0637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54C97E3-6758-BD33-CE38-5986B6D6A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6ED69-11D5-1644-8D81-278712D285D5}" type="datetimeFigureOut">
              <a:rPr kumimoji="1" lang="ja-JP" altLang="en-US" smtClean="0"/>
              <a:t>2026/5/23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14E54DF-D116-8785-2692-4110A0C96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93042E2-FBB5-5A1B-91B5-79F351902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2BCA9-C9C3-2944-8CA9-9CCFF15185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5185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A596B2-36E4-66F4-65D1-D2632D261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C724178-0C33-90B8-3F3A-F7AC3D88B3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E700EA1-AA3F-9F2A-5C68-6107AB9C47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7723CD9-3290-E053-7E3B-A2C26F228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6ED69-11D5-1644-8D81-278712D285D5}" type="datetimeFigureOut">
              <a:rPr kumimoji="1" lang="ja-JP" altLang="en-US" smtClean="0"/>
              <a:t>2026/5/23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5537FC-9C54-F13C-A466-CCAE3B158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876E34C-C2EA-8B96-BBC5-EF0D14EE1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2BCA9-C9C3-2944-8CA9-9CCFF15185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7674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748313-A360-C3C7-B182-F1E76F0B9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3734002-3B5C-E8D6-7BEC-B55F021A4F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662E3A2-BFC6-86B3-260C-9FD6937115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E0F44CF-F3A1-F34A-D4B5-2F3343097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6ED69-11D5-1644-8D81-278712D285D5}" type="datetimeFigureOut">
              <a:rPr kumimoji="1" lang="ja-JP" altLang="en-US" smtClean="0"/>
              <a:t>2026/5/23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EFAC67B-51B9-9C07-82FB-7DDEA139D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FBD4FC6-2A0C-ACDA-C612-B0C2D77F8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2BCA9-C9C3-2944-8CA9-9CCFF15185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4587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4BBA12-1D25-B0D4-0213-13C51EBD7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5B9C7C7-46EA-021F-BDC8-D58C0D1702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2AACCC2-B3EB-A3C0-47B9-15D319D3E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6ED69-11D5-1644-8D81-278712D285D5}" type="datetimeFigureOut">
              <a:rPr kumimoji="1" lang="ja-JP" altLang="en-US" smtClean="0"/>
              <a:t>2026/5/23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A2E1231-B404-9662-8B96-AD0E1E9F6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64567F7-B4B8-3002-BB0A-0647E9EDA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2BCA9-C9C3-2944-8CA9-9CCFF15185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043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749EDDC-95CE-9A71-234F-277EF7A4CA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C956A37-4844-2855-0B88-E65AD440B5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5F3A3AF-2790-618F-A9E9-305686EF7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6ED69-11D5-1644-8D81-278712D285D5}" type="datetimeFigureOut">
              <a:rPr kumimoji="1" lang="ja-JP" altLang="en-US" smtClean="0"/>
              <a:t>2026/5/23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6335F76-2BB2-DBEC-5051-455911260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F8901C4-8BB4-D96F-2207-F869154A5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2BCA9-C9C3-2944-8CA9-9CCFF15185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4158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FD24D03-309C-586F-FB7C-429C09320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5504CF0-BF93-FAE8-9F73-C6CC2802DF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523B77D-EADC-09D6-6B48-2CCDB2D01B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36ED69-11D5-1644-8D81-278712D285D5}" type="datetimeFigureOut">
              <a:rPr kumimoji="1" lang="ja-JP" altLang="en-US" smtClean="0"/>
              <a:t>2026/5/23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C1F838B-117B-2241-EDAC-2C2349776F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EE8735E-8C78-32D0-A2F9-F88F51FABC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82BCA9-C9C3-2944-8CA9-9CCFF15185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0182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9924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92443F-87E8-9DA5-F534-194C80A9D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2609569"/>
          </a:xfrm>
        </p:spPr>
        <p:txBody>
          <a:bodyPr>
            <a:normAutofit/>
          </a:bodyPr>
          <a:lstStyle/>
          <a:p>
            <a:r>
              <a:rPr kumimoji="1" lang="en-US" altLang="ja-JP" sz="3600" b="1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Q1. </a:t>
            </a:r>
            <a:br>
              <a:rPr kumimoji="1" lang="en-US" altLang="ja-JP" sz="2800" b="1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</a:br>
            <a:r>
              <a:rPr kumimoji="1" lang="en-US" altLang="ja-JP" sz="2800" b="1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CDK</a:t>
            </a:r>
            <a:r>
              <a:rPr kumimoji="1" lang="ja-JP" altLang="en-US" sz="2800" b="1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は、独自言語ではなく</a:t>
            </a:r>
            <a:r>
              <a:rPr kumimoji="1" lang="ja-JP" altLang="en-US" sz="2800" b="1">
                <a:solidFill>
                  <a:srgbClr val="0432FF"/>
                </a:solidFill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プログラミング言語</a:t>
            </a:r>
            <a:r>
              <a:rPr kumimoji="1" lang="ja-JP" altLang="en-US" sz="2800" b="1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によって</a:t>
            </a:r>
            <a:r>
              <a:rPr kumimoji="1" lang="en-US" altLang="ja-JP" sz="2800" b="1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IaC</a:t>
            </a:r>
            <a:r>
              <a:rPr kumimoji="1" lang="ja-JP" altLang="en-US" sz="2800" b="1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を記述します。使用できる言語を、</a:t>
            </a:r>
            <a:r>
              <a:rPr kumimoji="1" lang="en-US" altLang="ja-JP" sz="2800" b="1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1</a:t>
            </a:r>
            <a:r>
              <a:rPr kumimoji="1" lang="ja-JP" altLang="en-US" sz="2800" b="1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つ答えてください。</a:t>
            </a:r>
          </a:p>
        </p:txBody>
      </p:sp>
      <p:sp>
        <p:nvSpPr>
          <p:cNvPr id="4" name="タイトル 1">
            <a:extLst>
              <a:ext uri="{FF2B5EF4-FFF2-40B4-BE49-F238E27FC236}">
                <a16:creationId xmlns:a16="http://schemas.microsoft.com/office/drawing/2014/main" id="{7FB5E0C7-63C5-E362-2516-39B14D9D9EC5}"/>
              </a:ext>
            </a:extLst>
          </p:cNvPr>
          <p:cNvSpPr txBox="1">
            <a:spLocks/>
          </p:cNvSpPr>
          <p:nvPr/>
        </p:nvSpPr>
        <p:spPr>
          <a:xfrm>
            <a:off x="838200" y="2995210"/>
            <a:ext cx="10515600" cy="36139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3600" b="1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A1. </a:t>
            </a:r>
            <a:br>
              <a:rPr lang="en-US" altLang="ja-JP" sz="2800" b="1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</a:br>
            <a:r>
              <a:rPr lang="en-US" altLang="ja-JP" sz="2800" b="1" dirty="0">
                <a:solidFill>
                  <a:srgbClr val="0432FF"/>
                </a:solidFill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TypeScript</a:t>
            </a:r>
            <a:r>
              <a:rPr lang="ja-JP" altLang="en-US" sz="2800" b="1">
                <a:solidFill>
                  <a:srgbClr val="0432FF"/>
                </a:solidFill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、</a:t>
            </a:r>
            <a:r>
              <a:rPr lang="en-US" altLang="ja-JP" sz="2800" b="1" dirty="0">
                <a:solidFill>
                  <a:srgbClr val="0432FF"/>
                </a:solidFill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Python</a:t>
            </a:r>
            <a:r>
              <a:rPr lang="ja-JP" altLang="en-US" sz="2800" b="1">
                <a:solidFill>
                  <a:srgbClr val="0432FF"/>
                </a:solidFill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、</a:t>
            </a:r>
            <a:r>
              <a:rPr lang="en-US" altLang="ja-JP" sz="2800" b="1" dirty="0">
                <a:solidFill>
                  <a:srgbClr val="0432FF"/>
                </a:solidFill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Java</a:t>
            </a:r>
            <a:r>
              <a:rPr lang="ja-JP" altLang="en-US" sz="2800" b="1">
                <a:solidFill>
                  <a:srgbClr val="0432FF"/>
                </a:solidFill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、</a:t>
            </a:r>
            <a:r>
              <a:rPr lang="en-US" altLang="ja-JP" sz="2800" b="1" dirty="0">
                <a:solidFill>
                  <a:srgbClr val="0432FF"/>
                </a:solidFill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Go</a:t>
            </a:r>
            <a:r>
              <a:rPr lang="ja-JP" altLang="en-US" sz="2800" b="1">
                <a:solidFill>
                  <a:srgbClr val="0432FF"/>
                </a:solidFill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、</a:t>
            </a:r>
            <a:r>
              <a:rPr lang="en-US" altLang="ja-JP" sz="2800" b="1" dirty="0" err="1">
                <a:solidFill>
                  <a:srgbClr val="0432FF"/>
                </a:solidFill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.Net</a:t>
            </a:r>
            <a:r>
              <a:rPr lang="ja-JP" altLang="en-US" sz="2800" b="1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 の５言語です。</a:t>
            </a:r>
            <a:br>
              <a:rPr lang="en-US" altLang="ja-JP" sz="2800" b="1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</a:br>
            <a:endParaRPr lang="en-US" altLang="ja-JP" sz="2800" b="1" dirty="0">
              <a:latin typeface="Hiragino Kaku Gothic ProN W3" panose="020B0300000000000000" pitchFamily="34" charset="-128"/>
              <a:ea typeface="Hiragino Kaku Gothic ProN W3" panose="020B0300000000000000" pitchFamily="34" charset="-128"/>
            </a:endParaRPr>
          </a:p>
          <a:p>
            <a:r>
              <a:rPr lang="ja-JP" altLang="en-US" sz="2800" b="1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プログラミング言語だからこそのメリットが得られます</a:t>
            </a:r>
            <a:br>
              <a:rPr lang="en-US" altLang="ja-JP" sz="2800" b="1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</a:br>
            <a:br>
              <a:rPr lang="en-US" altLang="ja-JP" sz="1400" b="1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</a:br>
            <a:r>
              <a:rPr lang="ja-JP" altLang="en-US" sz="2800" b="1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☑️ </a:t>
            </a:r>
            <a:r>
              <a:rPr lang="ja-JP" altLang="en-US" sz="2800" b="1">
                <a:solidFill>
                  <a:srgbClr val="0432FF"/>
                </a:solidFill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アプリ開発者</a:t>
            </a:r>
            <a:r>
              <a:rPr lang="ja-JP" altLang="en-US" sz="2800" b="1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が採用しやすい</a:t>
            </a:r>
            <a:br>
              <a:rPr lang="en-US" altLang="ja-JP" sz="2800" b="1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</a:br>
            <a:r>
              <a:rPr lang="ja-JP" altLang="en-US" sz="2800" b="1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☑️ </a:t>
            </a:r>
            <a:r>
              <a:rPr lang="en-US" altLang="ja-JP" sz="2800" b="1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for</a:t>
            </a:r>
            <a:r>
              <a:rPr lang="ja-JP" altLang="en-US" sz="2800" b="1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ループ や </a:t>
            </a:r>
            <a:r>
              <a:rPr lang="en-US" altLang="ja-JP" sz="2800" b="1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if</a:t>
            </a:r>
            <a:r>
              <a:rPr lang="ja-JP" altLang="en-US" sz="2800" b="1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 分岐など</a:t>
            </a:r>
            <a:r>
              <a:rPr lang="ja-JP" altLang="en-US" sz="2800" b="1">
                <a:solidFill>
                  <a:srgbClr val="0432FF"/>
                </a:solidFill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ロジック</a:t>
            </a:r>
            <a:r>
              <a:rPr lang="ja-JP" altLang="en-US" sz="2800" b="1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を付けやすい</a:t>
            </a:r>
            <a:br>
              <a:rPr lang="en-US" altLang="ja-JP" sz="2800" b="1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</a:br>
            <a:r>
              <a:rPr lang="ja-JP" altLang="en-US" sz="2800" b="1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☑️ </a:t>
            </a:r>
            <a:r>
              <a:rPr lang="ja-JP" altLang="en-US" sz="2800" b="1">
                <a:solidFill>
                  <a:srgbClr val="0432FF"/>
                </a:solidFill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型チェック</a:t>
            </a:r>
            <a:r>
              <a:rPr lang="ja-JP" altLang="en-US" sz="2800" b="1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や</a:t>
            </a:r>
            <a:r>
              <a:rPr lang="ja-JP" altLang="en-US" sz="2800" b="1">
                <a:solidFill>
                  <a:srgbClr val="0432FF"/>
                </a:solidFill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補完ツール </a:t>
            </a:r>
            <a:r>
              <a:rPr lang="ja-JP" altLang="en-US" sz="2800" b="1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との親和性がある</a:t>
            </a:r>
            <a:br>
              <a:rPr lang="en-US" altLang="ja-JP" sz="2800" b="1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</a:br>
            <a:r>
              <a:rPr lang="ja-JP" altLang="en-US" sz="2800" b="1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　 </a:t>
            </a:r>
            <a:r>
              <a:rPr lang="en-US" altLang="ja-JP" sz="1800" b="1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(Ex. Biome</a:t>
            </a:r>
            <a:r>
              <a:rPr lang="ja-JP" altLang="en-US" sz="1800" b="1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や</a:t>
            </a:r>
            <a:r>
              <a:rPr lang="en-US" altLang="ja-JP" sz="1800" b="1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Ruff</a:t>
            </a:r>
            <a:r>
              <a:rPr lang="ja-JP" altLang="en-US" sz="1800" b="1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などリンター、</a:t>
            </a:r>
            <a:r>
              <a:rPr lang="en-US" altLang="ja-JP" sz="1800" b="1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Jest</a:t>
            </a:r>
            <a:r>
              <a:rPr lang="ja-JP" altLang="en-US" sz="1800" b="1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や</a:t>
            </a:r>
            <a:r>
              <a:rPr lang="en-US" altLang="ja-JP" sz="1800" b="1" dirty="0" err="1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pytest</a:t>
            </a:r>
            <a:r>
              <a:rPr lang="ja-JP" altLang="en-US" sz="1800" b="1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などテスト、などなど</a:t>
            </a:r>
            <a:r>
              <a:rPr lang="en-US" altLang="ja-JP" sz="1800" b="1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)</a:t>
            </a:r>
            <a:endParaRPr lang="ja-JP" altLang="en-US" sz="2800" b="1">
              <a:latin typeface="Hiragino Kaku Gothic ProN W3" panose="020B0300000000000000" pitchFamily="34" charset="-128"/>
              <a:ea typeface="Hiragino Kaku Gothic ProN W3" panose="020B0300000000000000" pitchFamily="34" charset="-128"/>
            </a:endParaRPr>
          </a:p>
        </p:txBody>
      </p:sp>
      <p:pic>
        <p:nvPicPr>
          <p:cNvPr id="1026" name="Picture 2" descr="Python (programming language) - Wikipedia">
            <a:extLst>
              <a:ext uri="{FF2B5EF4-FFF2-40B4-BE49-F238E27FC236}">
                <a16:creationId xmlns:a16="http://schemas.microsoft.com/office/drawing/2014/main" id="{07596783-4FE7-D3EB-1C76-7CF0BF79AF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5883" y="2117042"/>
            <a:ext cx="985054" cy="985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ypeScript - Wikipedia">
            <a:extLst>
              <a:ext uri="{FF2B5EF4-FFF2-40B4-BE49-F238E27FC236}">
                <a16:creationId xmlns:a16="http://schemas.microsoft.com/office/drawing/2014/main" id="{F2DD4E14-B77C-3F7A-4911-60923FFAE9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7267" y="2117042"/>
            <a:ext cx="985054" cy="985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Java In Use 2020 Beyond | Oracle University">
            <a:extLst>
              <a:ext uri="{FF2B5EF4-FFF2-40B4-BE49-F238E27FC236}">
                <a16:creationId xmlns:a16="http://schemas.microsoft.com/office/drawing/2014/main" id="{4DD19BEB-8BFB-149F-8C68-CD86510DDE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1249" y="1820722"/>
            <a:ext cx="1577694" cy="1577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5895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C594A-5D07-78AC-734B-694978B9E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6B5DED-3189-EFFB-D079-78C7206E1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1180743" cy="2609569"/>
          </a:xfrm>
        </p:spPr>
        <p:txBody>
          <a:bodyPr>
            <a:normAutofit/>
          </a:bodyPr>
          <a:lstStyle/>
          <a:p>
            <a:r>
              <a:rPr kumimoji="1" lang="en-US" altLang="ja-JP" sz="3600" b="1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Q2. </a:t>
            </a:r>
            <a:br>
              <a:rPr kumimoji="1" lang="en-US" altLang="ja-JP" sz="2800" b="1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</a:br>
            <a:r>
              <a:rPr kumimoji="1" lang="en-US" altLang="ja-JP" sz="2800" b="1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CDK</a:t>
            </a:r>
            <a:r>
              <a:rPr kumimoji="1" lang="ja-JP" altLang="en-US" sz="2800" b="1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は、</a:t>
            </a:r>
            <a:r>
              <a:rPr kumimoji="1" lang="en-US" altLang="ja-JP" sz="2800" b="1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CDK</a:t>
            </a:r>
            <a:r>
              <a:rPr kumimoji="1" lang="ja-JP" altLang="en-US" sz="2800" b="1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自身がリソースを作りません。</a:t>
            </a:r>
            <a:br>
              <a:rPr kumimoji="1" lang="en-US" altLang="ja-JP" sz="2800" b="1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</a:br>
            <a:r>
              <a:rPr kumimoji="1" lang="ja-JP" altLang="en-US" sz="2800" b="1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ある既存の</a:t>
            </a:r>
            <a:r>
              <a:rPr kumimoji="1" lang="en-US" altLang="ja-JP" sz="2800" b="1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AWS</a:t>
            </a:r>
            <a:r>
              <a:rPr kumimoji="1" lang="ja-JP" altLang="en-US" sz="2800" b="1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サービスをラップ</a:t>
            </a:r>
            <a:r>
              <a:rPr kumimoji="1" lang="en-US" altLang="ja-JP" sz="2800" b="1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(=</a:t>
            </a:r>
            <a:r>
              <a:rPr kumimoji="1" lang="ja-JP" altLang="en-US" sz="2800" b="1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抽象化・効率化</a:t>
            </a:r>
            <a:r>
              <a:rPr kumimoji="1" lang="en-US" altLang="ja-JP" sz="2800" b="1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)</a:t>
            </a:r>
            <a:r>
              <a:rPr kumimoji="1" lang="ja-JP" altLang="en-US" sz="2800" b="1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していますが</a:t>
            </a:r>
            <a:br>
              <a:rPr kumimoji="1" lang="en-US" altLang="ja-JP" sz="2800" b="1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</a:br>
            <a:r>
              <a:rPr kumimoji="1" lang="ja-JP" altLang="en-US" sz="2800" b="1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そのサービスは何でしょうか。</a:t>
            </a:r>
          </a:p>
        </p:txBody>
      </p:sp>
      <p:sp>
        <p:nvSpPr>
          <p:cNvPr id="4" name="タイトル 1">
            <a:extLst>
              <a:ext uri="{FF2B5EF4-FFF2-40B4-BE49-F238E27FC236}">
                <a16:creationId xmlns:a16="http://schemas.microsoft.com/office/drawing/2014/main" id="{3396386F-9C80-E2DD-6347-7D3AF5559891}"/>
              </a:ext>
            </a:extLst>
          </p:cNvPr>
          <p:cNvSpPr txBox="1">
            <a:spLocks/>
          </p:cNvSpPr>
          <p:nvPr/>
        </p:nvSpPr>
        <p:spPr>
          <a:xfrm>
            <a:off x="838200" y="2995210"/>
            <a:ext cx="10515600" cy="36139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3600" b="1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A2. </a:t>
            </a:r>
            <a:br>
              <a:rPr lang="en-US" altLang="ja-JP" sz="2800" b="1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</a:br>
            <a:r>
              <a:rPr lang="en-US" altLang="ja-JP" sz="2800" b="1" dirty="0">
                <a:solidFill>
                  <a:srgbClr val="0432FF"/>
                </a:solidFill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CloudFormation</a:t>
            </a:r>
            <a:r>
              <a:rPr lang="ja-JP" altLang="en-US" sz="2800" b="1">
                <a:solidFill>
                  <a:srgbClr val="0432FF"/>
                </a:solidFill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 </a:t>
            </a:r>
            <a:r>
              <a:rPr lang="ja-JP" altLang="en-US" sz="2800" b="1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をラップするサービスであり、</a:t>
            </a:r>
            <a:br>
              <a:rPr lang="en-US" altLang="ja-JP" sz="2800" b="1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</a:br>
            <a:r>
              <a:rPr lang="ja-JP" altLang="en-US" sz="2800" b="1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サービスの直接的なプロビジョニングは</a:t>
            </a:r>
            <a:r>
              <a:rPr lang="en-US" altLang="ja-JP" sz="2800" b="1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CloudFormation</a:t>
            </a:r>
            <a:r>
              <a:rPr lang="ja-JP" altLang="en-US" sz="2800" b="1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が</a:t>
            </a:r>
            <a:br>
              <a:rPr lang="en-US" altLang="ja-JP" sz="2800" b="1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</a:br>
            <a:r>
              <a:rPr lang="ja-JP" altLang="en-US" sz="2800" b="1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行います。</a:t>
            </a:r>
            <a:br>
              <a:rPr lang="en-US" altLang="ja-JP" sz="2800" b="1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</a:br>
            <a:endParaRPr lang="en-US" altLang="ja-JP" sz="2800" b="1" dirty="0">
              <a:latin typeface="Hiragino Kaku Gothic ProN W3" panose="020B0300000000000000" pitchFamily="34" charset="-128"/>
              <a:ea typeface="Hiragino Kaku Gothic ProN W3" panose="020B0300000000000000" pitchFamily="34" charset="-128"/>
            </a:endParaRPr>
          </a:p>
          <a:p>
            <a:r>
              <a:rPr lang="ja-JP" altLang="en-US" sz="2800" b="1">
                <a:solidFill>
                  <a:srgbClr val="0432FF"/>
                </a:solidFill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優秀かつ実績あるプロビジョニングサービスである</a:t>
            </a:r>
            <a:r>
              <a:rPr lang="en-US" altLang="ja-JP" sz="2800" b="1" dirty="0">
                <a:solidFill>
                  <a:srgbClr val="0432FF"/>
                </a:solidFill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CloudFormation</a:t>
            </a:r>
            <a:r>
              <a:rPr lang="ja-JP" altLang="en-US" sz="2800" b="1">
                <a:solidFill>
                  <a:srgbClr val="0432FF"/>
                </a:solidFill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の恩恵を受けられる</a:t>
            </a:r>
            <a:r>
              <a:rPr lang="ja-JP" altLang="en-US" sz="2800" b="1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ことに加えて、</a:t>
            </a:r>
            <a:br>
              <a:rPr lang="en-US" altLang="ja-JP" sz="2800" b="1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</a:br>
            <a:r>
              <a:rPr lang="en-US" altLang="ja-JP" sz="2800" b="1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CDK</a:t>
            </a:r>
            <a:r>
              <a:rPr lang="ja-JP" altLang="en-US" sz="2800" b="1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でより手軽に</a:t>
            </a:r>
            <a:r>
              <a:rPr lang="en-US" altLang="ja-JP" sz="2800" b="1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IaC</a:t>
            </a:r>
            <a:r>
              <a:rPr lang="ja-JP" altLang="en-US" sz="2800" b="1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を記述できるメリットがあります。</a:t>
            </a:r>
          </a:p>
        </p:txBody>
      </p:sp>
      <p:pic>
        <p:nvPicPr>
          <p:cNvPr id="2050" name="Picture 2" descr="CloudFormation】既存のVPCをCloudFormationにインポートしてみた｜エンジニアブログ｜パーソル＆サーバーワークス株式会社">
            <a:extLst>
              <a:ext uri="{FF2B5EF4-FFF2-40B4-BE49-F238E27FC236}">
                <a16:creationId xmlns:a16="http://schemas.microsoft.com/office/drawing/2014/main" id="{3AD5D1B0-A730-0C70-BB5C-A864F8E7E8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4162" y="2053341"/>
            <a:ext cx="1112456" cy="1112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5B78FE1-CEB2-ECCB-C3A5-F130F5D74935}"/>
              </a:ext>
            </a:extLst>
          </p:cNvPr>
          <p:cNvSpPr txBox="1"/>
          <p:nvPr/>
        </p:nvSpPr>
        <p:spPr>
          <a:xfrm>
            <a:off x="8374927" y="3165797"/>
            <a:ext cx="204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err="1"/>
              <a:t>CxxxxFxxxxxxxx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517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8FF38-47F4-1194-651B-92E74D4F7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角丸四角形 5">
            <a:extLst>
              <a:ext uri="{FF2B5EF4-FFF2-40B4-BE49-F238E27FC236}">
                <a16:creationId xmlns:a16="http://schemas.microsoft.com/office/drawing/2014/main" id="{D70B4691-6E6C-9C1B-108A-369A3E343D70}"/>
              </a:ext>
            </a:extLst>
          </p:cNvPr>
          <p:cNvSpPr/>
          <p:nvPr/>
        </p:nvSpPr>
        <p:spPr>
          <a:xfrm>
            <a:off x="3958541" y="5566891"/>
            <a:ext cx="3877519" cy="118115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>
              <a:solidFill>
                <a:schemeClr val="tx1"/>
              </a:solidFill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165FBC1-5C0B-BA96-61C9-7D3282EEF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782782" cy="2609569"/>
          </a:xfrm>
        </p:spPr>
        <p:txBody>
          <a:bodyPr>
            <a:normAutofit/>
          </a:bodyPr>
          <a:lstStyle/>
          <a:p>
            <a:r>
              <a:rPr kumimoji="1" lang="en-US" altLang="ja-JP" sz="3600" b="1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Q3. </a:t>
            </a:r>
            <a:br>
              <a:rPr kumimoji="1" lang="en-US" altLang="ja-JP" sz="2800" b="1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</a:br>
            <a:r>
              <a:rPr kumimoji="1" lang="en-US" altLang="ja-JP" sz="2800" b="1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CDK</a:t>
            </a:r>
            <a:r>
              <a:rPr kumimoji="1" lang="ja-JP" altLang="en-US" sz="2800" b="1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は、</a:t>
            </a:r>
            <a:r>
              <a:rPr lang="ja-JP" altLang="en-US" sz="2800" b="1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抽象化レベルに選択の幅があることが</a:t>
            </a:r>
            <a:r>
              <a:rPr lang="en-US" altLang="ja-JP" sz="2800" b="1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1</a:t>
            </a:r>
            <a:r>
              <a:rPr lang="ja-JP" altLang="en-US" sz="2800" b="1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つの特徴です。</a:t>
            </a:r>
            <a:br>
              <a:rPr lang="en-US" altLang="ja-JP" sz="2800" b="1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</a:br>
            <a:r>
              <a:rPr lang="ja-JP" altLang="en-US" sz="2800" b="1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その抽象化レベルを、なんと呼ぶでしょうか？</a:t>
            </a:r>
            <a:endParaRPr kumimoji="1" lang="ja-JP" altLang="en-US" sz="2800" b="1">
              <a:latin typeface="Hiragino Kaku Gothic ProN W3" panose="020B0300000000000000" pitchFamily="34" charset="-128"/>
              <a:ea typeface="Hiragino Kaku Gothic ProN W3" panose="020B0300000000000000" pitchFamily="34" charset="-128"/>
            </a:endParaRPr>
          </a:p>
        </p:txBody>
      </p:sp>
      <p:sp>
        <p:nvSpPr>
          <p:cNvPr id="4" name="タイトル 1">
            <a:extLst>
              <a:ext uri="{FF2B5EF4-FFF2-40B4-BE49-F238E27FC236}">
                <a16:creationId xmlns:a16="http://schemas.microsoft.com/office/drawing/2014/main" id="{2479C337-9979-944C-8D72-29047DBC32B5}"/>
              </a:ext>
            </a:extLst>
          </p:cNvPr>
          <p:cNvSpPr txBox="1">
            <a:spLocks/>
          </p:cNvSpPr>
          <p:nvPr/>
        </p:nvSpPr>
        <p:spPr>
          <a:xfrm>
            <a:off x="838199" y="2277587"/>
            <a:ext cx="11164747" cy="3451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3600" b="1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A3. </a:t>
            </a:r>
            <a:r>
              <a:rPr lang="ja-JP" altLang="en-US" sz="3600" b="1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 </a:t>
            </a:r>
            <a:r>
              <a:rPr lang="ja-JP" altLang="en-US" sz="2800" b="1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以下の</a:t>
            </a:r>
            <a:r>
              <a:rPr lang="en-US" altLang="ja-JP" sz="2800" b="1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3</a:t>
            </a:r>
            <a:r>
              <a:rPr lang="ja-JP" altLang="en-US" sz="2800" b="1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つから選んで</a:t>
            </a:r>
            <a:r>
              <a:rPr lang="en-US" altLang="ja-JP" sz="2800" b="1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IaC</a:t>
            </a:r>
            <a:r>
              <a:rPr lang="ja-JP" altLang="en-US" sz="2800" b="1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を実装できます。</a:t>
            </a:r>
            <a:br>
              <a:rPr lang="en-US" altLang="ja-JP" sz="2800" b="1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</a:br>
            <a:r>
              <a:rPr lang="en-US" altLang="ja-JP" sz="2400" b="1" dirty="0">
                <a:solidFill>
                  <a:srgbClr val="0432FF"/>
                </a:solidFill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L1</a:t>
            </a:r>
            <a:r>
              <a:rPr lang="ja-JP" altLang="en-US" sz="2400" b="1">
                <a:solidFill>
                  <a:srgbClr val="0432FF"/>
                </a:solidFill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：</a:t>
            </a:r>
            <a:r>
              <a:rPr lang="en-US" altLang="ja-JP" sz="2400" b="1" dirty="0">
                <a:solidFill>
                  <a:srgbClr val="0432FF"/>
                </a:solidFill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CloudFormation</a:t>
            </a:r>
            <a:r>
              <a:rPr lang="ja-JP" altLang="en-US" sz="2400" b="1">
                <a:solidFill>
                  <a:srgbClr val="0432FF"/>
                </a:solidFill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レベル</a:t>
            </a:r>
            <a:r>
              <a:rPr lang="ja-JP" altLang="en-US" sz="2000" b="1">
                <a:solidFill>
                  <a:srgbClr val="0432FF"/>
                </a:solidFill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（全てのパラメータを指定可能）</a:t>
            </a:r>
            <a:br>
              <a:rPr lang="en-US" altLang="ja-JP" sz="2000" b="1" dirty="0">
                <a:solidFill>
                  <a:srgbClr val="0432FF"/>
                </a:solidFill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</a:br>
            <a:r>
              <a:rPr lang="en-US" altLang="ja-JP" sz="2400" b="1" dirty="0">
                <a:solidFill>
                  <a:srgbClr val="0432FF"/>
                </a:solidFill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L2</a:t>
            </a:r>
            <a:r>
              <a:rPr lang="ja-JP" altLang="en-US" sz="2400" b="1">
                <a:solidFill>
                  <a:srgbClr val="0432FF"/>
                </a:solidFill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：</a:t>
            </a:r>
            <a:r>
              <a:rPr lang="en-US" altLang="ja-JP" sz="2400" b="1" dirty="0">
                <a:solidFill>
                  <a:srgbClr val="0432FF"/>
                </a:solidFill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CDK</a:t>
            </a:r>
            <a:r>
              <a:rPr lang="ja-JP" altLang="en-US" sz="2400" b="1">
                <a:solidFill>
                  <a:srgbClr val="0432FF"/>
                </a:solidFill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標準レベル</a:t>
            </a:r>
            <a:r>
              <a:rPr lang="ja-JP" altLang="en-US" sz="2000" b="1">
                <a:solidFill>
                  <a:srgbClr val="0432FF"/>
                </a:solidFill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（</a:t>
            </a:r>
            <a:r>
              <a:rPr lang="en-US" altLang="ja-JP" sz="2000" b="1" dirty="0">
                <a:solidFill>
                  <a:srgbClr val="0432FF"/>
                </a:solidFill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AWS</a:t>
            </a:r>
            <a:r>
              <a:rPr lang="ja-JP" altLang="en-US" sz="2000" b="1">
                <a:solidFill>
                  <a:srgbClr val="0432FF"/>
                </a:solidFill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推奨の値がデフォルトで設定されてて少ない記述で</a:t>
            </a:r>
            <a:r>
              <a:rPr lang="en-US" altLang="ja-JP" sz="2000" b="1" dirty="0">
                <a:solidFill>
                  <a:srgbClr val="0432FF"/>
                </a:solidFill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OK</a:t>
            </a:r>
            <a:r>
              <a:rPr lang="ja-JP" altLang="en-US" sz="2000" b="1">
                <a:solidFill>
                  <a:srgbClr val="0432FF"/>
                </a:solidFill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）</a:t>
            </a:r>
            <a:br>
              <a:rPr lang="en-US" altLang="ja-JP" sz="2400" b="1" dirty="0">
                <a:solidFill>
                  <a:srgbClr val="0432FF"/>
                </a:solidFill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</a:br>
            <a:r>
              <a:rPr lang="en-US" altLang="ja-JP" sz="2400" b="1" dirty="0">
                <a:solidFill>
                  <a:srgbClr val="0432FF"/>
                </a:solidFill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L3</a:t>
            </a:r>
            <a:r>
              <a:rPr lang="ja-JP" altLang="en-US" sz="2400" b="1">
                <a:solidFill>
                  <a:srgbClr val="0432FF"/>
                </a:solidFill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：よくあるインフラ構成一式を、一括で構築できるレベル</a:t>
            </a:r>
            <a:br>
              <a:rPr lang="en-US" altLang="ja-JP" sz="2400" b="1" dirty="0">
                <a:solidFill>
                  <a:srgbClr val="0432FF"/>
                </a:solidFill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</a:br>
            <a:r>
              <a:rPr lang="ja-JP" altLang="en-US" sz="2400" b="1">
                <a:solidFill>
                  <a:srgbClr val="0432FF"/>
                </a:solidFill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　　 </a:t>
            </a:r>
            <a:r>
              <a:rPr lang="ja-JP" altLang="en-US" sz="2000" b="1">
                <a:solidFill>
                  <a:srgbClr val="0432FF"/>
                </a:solidFill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（</a:t>
            </a:r>
            <a:r>
              <a:rPr lang="en-US" altLang="ja-JP" sz="2000" b="1" dirty="0">
                <a:solidFill>
                  <a:srgbClr val="0432FF"/>
                </a:solidFill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ECS</a:t>
            </a:r>
            <a:r>
              <a:rPr lang="ja-JP" altLang="en-US" sz="2000" b="1">
                <a:solidFill>
                  <a:srgbClr val="0432FF"/>
                </a:solidFill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＋</a:t>
            </a:r>
            <a:r>
              <a:rPr lang="en-US" altLang="ja-JP" sz="2000" b="1" dirty="0">
                <a:solidFill>
                  <a:srgbClr val="0432FF"/>
                </a:solidFill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ALB</a:t>
            </a:r>
            <a:r>
              <a:rPr lang="ja-JP" altLang="en-US" sz="2000" b="1">
                <a:solidFill>
                  <a:srgbClr val="0432FF"/>
                </a:solidFill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 や </a:t>
            </a:r>
            <a:r>
              <a:rPr lang="en-US" altLang="ja-JP" sz="2000" b="1" dirty="0">
                <a:solidFill>
                  <a:srgbClr val="0432FF"/>
                </a:solidFill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Lambda</a:t>
            </a:r>
            <a:r>
              <a:rPr lang="ja-JP" altLang="en-US" sz="2000" b="1">
                <a:solidFill>
                  <a:srgbClr val="0432FF"/>
                </a:solidFill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＋</a:t>
            </a:r>
            <a:r>
              <a:rPr lang="en-US" altLang="ja-JP" sz="2000" b="1" dirty="0">
                <a:solidFill>
                  <a:srgbClr val="0432FF"/>
                </a:solidFill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SQS</a:t>
            </a:r>
            <a:r>
              <a:rPr lang="ja-JP" altLang="en-US" sz="2000" b="1">
                <a:solidFill>
                  <a:srgbClr val="0432FF"/>
                </a:solidFill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 など複数リソースを、</a:t>
            </a:r>
            <a:r>
              <a:rPr lang="en-US" altLang="ja-JP" sz="2000" b="1" dirty="0">
                <a:solidFill>
                  <a:srgbClr val="0432FF"/>
                </a:solidFill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2~3</a:t>
            </a:r>
            <a:r>
              <a:rPr lang="ja-JP" altLang="en-US" sz="2000" b="1">
                <a:solidFill>
                  <a:srgbClr val="0432FF"/>
                </a:solidFill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行程度で記述可能）</a:t>
            </a:r>
            <a:br>
              <a:rPr lang="en-US" altLang="ja-JP" sz="2400" b="1" dirty="0">
                <a:solidFill>
                  <a:srgbClr val="0432FF"/>
                </a:solidFill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</a:br>
            <a:br>
              <a:rPr lang="en-US" altLang="ja-JP" sz="1200" b="1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</a:br>
            <a:r>
              <a:rPr lang="ja-JP" altLang="en-US" sz="2400" b="1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検証目的や業務など目的に応じて、適切な</a:t>
            </a:r>
            <a:r>
              <a:rPr lang="en-US" altLang="ja-JP" sz="2400" b="1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L</a:t>
            </a:r>
            <a:r>
              <a:rPr lang="ja-JP" altLang="en-US" sz="2400" b="1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◯コンストラクトを記述するのが重要です。</a:t>
            </a:r>
            <a:br>
              <a:rPr lang="en-US" altLang="ja-JP" sz="2400" b="1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</a:br>
            <a:r>
              <a:rPr lang="en-US" altLang="ja-JP" sz="1800" b="1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※</a:t>
            </a:r>
            <a:r>
              <a:rPr lang="ja-JP" altLang="en-US" sz="1800" b="1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コンストラクト：スタックを構成するためのリソース記述 くらいのざっくりイメージで</a:t>
            </a:r>
            <a:r>
              <a:rPr lang="en-US" altLang="ja-JP" sz="1800" b="1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OK</a:t>
            </a:r>
            <a:r>
              <a:rPr lang="ja-JP" altLang="en-US" sz="1800" b="1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です。</a:t>
            </a:r>
            <a:endParaRPr lang="en-US" altLang="ja-JP" sz="2400" b="1" dirty="0">
              <a:latin typeface="Hiragino Kaku Gothic ProN W3" panose="020B0300000000000000" pitchFamily="34" charset="-128"/>
              <a:ea typeface="Hiragino Kaku Gothic ProN W3" panose="020B0300000000000000" pitchFamily="34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B43BDA1-74B5-364E-2C0B-72F22E1AA5C4}"/>
              </a:ext>
            </a:extLst>
          </p:cNvPr>
          <p:cNvSpPr txBox="1"/>
          <p:nvPr/>
        </p:nvSpPr>
        <p:spPr>
          <a:xfrm>
            <a:off x="7384648" y="2092921"/>
            <a:ext cx="3969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L</a:t>
            </a:r>
            <a:r>
              <a:rPr kumimoji="1" lang="ja-JP" altLang="en-US"/>
              <a:t>◯、</a:t>
            </a:r>
            <a:r>
              <a:rPr kumimoji="1" lang="en-US" altLang="ja-JP" dirty="0"/>
              <a:t> L</a:t>
            </a:r>
            <a:r>
              <a:rPr kumimoji="1" lang="ja-JP" altLang="en-US"/>
              <a:t>◯、</a:t>
            </a:r>
            <a:r>
              <a:rPr kumimoji="1" lang="en-US" altLang="ja-JP" dirty="0"/>
              <a:t> L</a:t>
            </a:r>
            <a:r>
              <a:rPr kumimoji="1" lang="ja-JP" altLang="en-US"/>
              <a:t>◯ ですね</a:t>
            </a:r>
          </a:p>
        </p:txBody>
      </p:sp>
      <p:sp>
        <p:nvSpPr>
          <p:cNvPr id="5" name="角丸四角形 4">
            <a:extLst>
              <a:ext uri="{FF2B5EF4-FFF2-40B4-BE49-F238E27FC236}">
                <a16:creationId xmlns:a16="http://schemas.microsoft.com/office/drawing/2014/main" id="{79F76E04-2174-40C3-F7CA-E01FDE54AC40}"/>
              </a:ext>
            </a:extLst>
          </p:cNvPr>
          <p:cNvSpPr/>
          <p:nvPr/>
        </p:nvSpPr>
        <p:spPr>
          <a:xfrm>
            <a:off x="5162307" y="5613191"/>
            <a:ext cx="1701478" cy="30094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>
                <a:solidFill>
                  <a:schemeClr val="tx1"/>
                </a:solidFill>
              </a:rPr>
              <a:t>スタック</a:t>
            </a:r>
          </a:p>
        </p:txBody>
      </p:sp>
      <p:sp>
        <p:nvSpPr>
          <p:cNvPr id="7" name="角丸四角形 6">
            <a:extLst>
              <a:ext uri="{FF2B5EF4-FFF2-40B4-BE49-F238E27FC236}">
                <a16:creationId xmlns:a16="http://schemas.microsoft.com/office/drawing/2014/main" id="{C28063B3-6A7E-43B5-D48B-A21119DBBDF7}"/>
              </a:ext>
            </a:extLst>
          </p:cNvPr>
          <p:cNvSpPr/>
          <p:nvPr/>
        </p:nvSpPr>
        <p:spPr>
          <a:xfrm>
            <a:off x="4186174" y="6030144"/>
            <a:ext cx="1701478" cy="61372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>
                <a:solidFill>
                  <a:schemeClr val="tx1"/>
                </a:solidFill>
              </a:rPr>
              <a:t>L1</a:t>
            </a:r>
            <a:r>
              <a:rPr lang="ja-JP" altLang="en-US" b="1">
                <a:solidFill>
                  <a:schemeClr val="tx1"/>
                </a:solidFill>
              </a:rPr>
              <a:t> </a:t>
            </a:r>
            <a:r>
              <a:rPr lang="en-US" altLang="ja-JP" b="1" dirty="0">
                <a:solidFill>
                  <a:schemeClr val="tx1"/>
                </a:solidFill>
              </a:rPr>
              <a:t>Const.</a:t>
            </a:r>
            <a:br>
              <a:rPr lang="en-US" altLang="ja-JP" b="1" dirty="0">
                <a:solidFill>
                  <a:schemeClr val="tx1"/>
                </a:solidFill>
              </a:rPr>
            </a:br>
            <a:r>
              <a:rPr lang="en-US" altLang="ja-JP" b="1" dirty="0">
                <a:solidFill>
                  <a:schemeClr val="tx1"/>
                </a:solidFill>
              </a:rPr>
              <a:t>(RDS)</a:t>
            </a:r>
            <a:endParaRPr kumimoji="1" lang="ja-JP" altLang="en-US" b="1">
              <a:solidFill>
                <a:schemeClr val="tx1"/>
              </a:solidFill>
            </a:endParaRPr>
          </a:p>
        </p:txBody>
      </p:sp>
      <p:sp>
        <p:nvSpPr>
          <p:cNvPr id="8" name="角丸四角形 7">
            <a:extLst>
              <a:ext uri="{FF2B5EF4-FFF2-40B4-BE49-F238E27FC236}">
                <a16:creationId xmlns:a16="http://schemas.microsoft.com/office/drawing/2014/main" id="{5A9C784D-B9D4-7796-93BB-FD54AEB803D9}"/>
              </a:ext>
            </a:extLst>
          </p:cNvPr>
          <p:cNvSpPr/>
          <p:nvPr/>
        </p:nvSpPr>
        <p:spPr>
          <a:xfrm>
            <a:off x="6011117" y="6030144"/>
            <a:ext cx="1701478" cy="61372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>
                <a:solidFill>
                  <a:schemeClr val="tx1"/>
                </a:solidFill>
              </a:rPr>
              <a:t>L3</a:t>
            </a:r>
            <a:r>
              <a:rPr lang="ja-JP" altLang="en-US" b="1">
                <a:solidFill>
                  <a:schemeClr val="tx1"/>
                </a:solidFill>
              </a:rPr>
              <a:t> </a:t>
            </a:r>
            <a:r>
              <a:rPr lang="en-US" altLang="ja-JP" b="1" dirty="0">
                <a:solidFill>
                  <a:schemeClr val="tx1"/>
                </a:solidFill>
              </a:rPr>
              <a:t>Const.</a:t>
            </a:r>
            <a:br>
              <a:rPr lang="en-US" altLang="ja-JP" b="1" dirty="0">
                <a:solidFill>
                  <a:schemeClr val="tx1"/>
                </a:solidFill>
              </a:rPr>
            </a:br>
            <a:r>
              <a:rPr lang="en-US" altLang="ja-JP" b="1" dirty="0">
                <a:solidFill>
                  <a:schemeClr val="tx1"/>
                </a:solidFill>
              </a:rPr>
              <a:t>(ECS</a:t>
            </a:r>
            <a:r>
              <a:rPr lang="ja-JP" altLang="en-US" b="1">
                <a:solidFill>
                  <a:schemeClr val="tx1"/>
                </a:solidFill>
              </a:rPr>
              <a:t>＋</a:t>
            </a:r>
            <a:r>
              <a:rPr lang="en-US" altLang="ja-JP" b="1" dirty="0">
                <a:solidFill>
                  <a:schemeClr val="tx1"/>
                </a:solidFill>
              </a:rPr>
              <a:t>ALB)</a:t>
            </a:r>
            <a:endParaRPr kumimoji="1" lang="ja-JP" altLang="en-US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4064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4" grpId="0"/>
      <p:bldP spid="5" grpId="0" animBg="1"/>
      <p:bldP spid="7" grpId="0" animBg="1"/>
      <p:bldP spid="8" grpId="0" animBg="1"/>
    </p:bld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388</Words>
  <Application>Microsoft Macintosh PowerPoint</Application>
  <PresentationFormat>ワイド画面</PresentationFormat>
  <Paragraphs>13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9" baseType="lpstr">
      <vt:lpstr>Hiragino Kaku Gothic ProN W3</vt:lpstr>
      <vt:lpstr>游ゴシック</vt:lpstr>
      <vt:lpstr>游ゴシック Light</vt:lpstr>
      <vt:lpstr>Arial</vt:lpstr>
      <vt:lpstr>Office テーマ</vt:lpstr>
      <vt:lpstr>PowerPoint プレゼンテーション</vt:lpstr>
      <vt:lpstr>Q1.  CDKは、独自言語ではなくプログラミング言語によってIaCを記述します。使用できる言語を、1つ答えてください。</vt:lpstr>
      <vt:lpstr>Q2.  CDKは、CDK自身がリソースを作りません。 ある既存のAWSサービスをラップ(=抽象化・効率化)していますが そのサービスは何でしょうか。</vt:lpstr>
      <vt:lpstr>Q3.  CDKは、抽象化レベルに選択の幅があることが1つの特徴です。 その抽象化レベルを、なんと呼ぶでしょうか？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藤岡 敦史</dc:creator>
  <cp:lastModifiedBy>藤岡 敦史</cp:lastModifiedBy>
  <cp:revision>1</cp:revision>
  <dcterms:created xsi:type="dcterms:W3CDTF">2026-05-23T06:58:45Z</dcterms:created>
  <dcterms:modified xsi:type="dcterms:W3CDTF">2026-05-23T07:38:56Z</dcterms:modified>
</cp:coreProperties>
</file>